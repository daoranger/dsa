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3" r:id="rId1"/>
  </p:sldMasterIdLst>
  <p:handoutMasterIdLst>
    <p:handoutMasterId r:id="rId39"/>
  </p:handoutMasterIdLst>
  <p:sldIdLst>
    <p:sldId id="258" r:id="rId2"/>
    <p:sldId id="259" r:id="rId3"/>
    <p:sldId id="378" r:id="rId4"/>
    <p:sldId id="326" r:id="rId5"/>
    <p:sldId id="327" r:id="rId6"/>
    <p:sldId id="325" r:id="rId7"/>
    <p:sldId id="382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61" r:id="rId16"/>
    <p:sldId id="335" r:id="rId17"/>
    <p:sldId id="359" r:id="rId18"/>
    <p:sldId id="352" r:id="rId19"/>
    <p:sldId id="353" r:id="rId20"/>
    <p:sldId id="336" r:id="rId21"/>
    <p:sldId id="358" r:id="rId22"/>
    <p:sldId id="354" r:id="rId23"/>
    <p:sldId id="355" r:id="rId24"/>
    <p:sldId id="337" r:id="rId25"/>
    <p:sldId id="360" r:id="rId26"/>
    <p:sldId id="356" r:id="rId27"/>
    <p:sldId id="338" r:id="rId28"/>
    <p:sldId id="357" r:id="rId29"/>
    <p:sldId id="339" r:id="rId30"/>
    <p:sldId id="362" r:id="rId31"/>
    <p:sldId id="363" r:id="rId32"/>
    <p:sldId id="364" r:id="rId33"/>
    <p:sldId id="376" r:id="rId34"/>
    <p:sldId id="377" r:id="rId35"/>
    <p:sldId id="379" r:id="rId36"/>
    <p:sldId id="380" r:id="rId37"/>
    <p:sldId id="381" r:id="rId38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254" autoAdjust="0"/>
    <p:restoredTop sz="94630"/>
  </p:normalViewPr>
  <p:slideViewPr>
    <p:cSldViewPr>
      <p:cViewPr varScale="1">
        <p:scale>
          <a:sx n="142" d="100"/>
          <a:sy n="142" d="100"/>
        </p:scale>
        <p:origin x="36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2148" y="-114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5CAD18C-DF40-43AC-9330-CF7C7BED2AC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8E8628-4FD2-493D-9B24-A7CF60AC42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4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8" name="Picture 3" descr="Extension 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2743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D8FC0C-FBF3-43B5-A0AE-913169B9E19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0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C09872-4887-4B98-A6B9-FA26B0416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807012-8B86-49CF-9E74-086AE8F8F49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FED5E6-1A05-4999-BEBA-4BED8EC87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57E6A-D715-4286-8CCF-1DCF77FC7FC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70F69-C963-4181-BADE-5AFE7DFC6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84D18-80F0-43AC-8C28-6663615A91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9F342-98F1-43C3-8463-56EC16B31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80D5D-7E07-4547-B279-CB6432FEB86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05507-FEC1-4224-BAF7-C5071B4FF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7DDB0-9499-4B18-BF00-E33254871B0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A140F-D22F-416E-884D-544A76F09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7D5A4-B138-40F2-B2B8-4A972BC870D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8FD42-3869-4F78-9C8E-904E79075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EC93C-396F-4A7C-BE82-4DD9D95A9DD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FD0FB-1EE8-40CC-AE1E-758399E29B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BD528-E9D1-4D58-86F3-3663C9C7118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1DECB-DB32-4084-9128-6F889F9C5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614A0-5E72-47B9-ACBF-9ABA9F93B3A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221FE-A17F-4E4B-875F-6A7838F9DB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55B37-1B31-4F22-B489-9CABDFB03DA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71697-9BC9-4BE1-9D88-C29E2F6696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EF16F884-BA9B-452E-AAE8-0508E1DD813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185C6E70-DE8F-4C46-8435-E091A8A7F4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072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033" name="Picture 3" descr="Extension Logo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" y="6257925"/>
            <a:ext cx="2743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i="1" u="sng" dirty="0"/>
              <a:t>Mastering Data Structures and Algorithms: A Practical Approach</a:t>
            </a:r>
            <a:r>
              <a:rPr lang="en-US" sz="3600" b="0" dirty="0">
                <a:cs typeface="Arial" charset="0"/>
              </a:rPr>
              <a:t> 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Trees and Graphs</a:t>
            </a:r>
            <a:endParaRPr lang="en-US" b="1" dirty="0">
              <a:latin typeface="Tw Cen MT" pitchFamily="34" charset="0"/>
              <a:cs typeface="Arial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5800" y="4648200"/>
            <a:ext cx="81534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0" hangingPunct="0"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By Dr. Juan C. Gomez</a:t>
            </a:r>
            <a:r>
              <a:rPr lang="en-US" dirty="0"/>
              <a:t> </a:t>
            </a:r>
          </a:p>
          <a:p>
            <a:pPr eaLnBrk="0" hangingPunct="0">
              <a:defRPr/>
            </a:pPr>
            <a:r>
              <a:rPr lang="en-US" sz="1400" b="1" dirty="0"/>
              <a:t>Fall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Trees vs Graphs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Terminology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Types of Trees: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Generic Tree vs Binary tree</a:t>
            </a: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/>
              <a:t>Binary Tree vs Binary Search tree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Balanced vs Unbalanced tree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Complete Binary Tree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Full Binary Tree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Perfect binary tree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Tree Traversals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In-order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Pre-order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Post-order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Tries (Prefix trees)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Trees is Java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Trees in C++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Well-known Tree Data Structures: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AVL Trees: O(log(N))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Splay Trees: Amortized O(log(N))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B-Trees</a:t>
            </a:r>
          </a:p>
          <a:p>
            <a:pPr lvl="1">
              <a:lnSpc>
                <a:spcPct val="80000"/>
              </a:lnSpc>
            </a:pPr>
            <a:endParaRPr lang="en-US" sz="2100" dirty="0"/>
          </a:p>
          <a:p>
            <a:pPr>
              <a:lnSpc>
                <a:spcPct val="80000"/>
              </a:lnSpc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0918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Graphs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Concept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Adjacency lists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Adjacency Matrix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Directed vs Undirected graphs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Graphs with weights</a:t>
            </a:r>
          </a:p>
          <a:p>
            <a:pPr lvl="1">
              <a:lnSpc>
                <a:spcPct val="80000"/>
              </a:lnSpc>
            </a:pPr>
            <a:r>
              <a:rPr lang="en-US" sz="2100" dirty="0"/>
              <a:t>Graph traversals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Depth-First Search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Breadth-First Search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Bidirectional Search</a:t>
            </a:r>
          </a:p>
        </p:txBody>
      </p:sp>
    </p:spTree>
    <p:extLst>
      <p:ext uri="{BB962C8B-B14F-4D97-AF65-F5344CB8AC3E}">
        <p14:creationId xmlns:p14="http://schemas.microsoft.com/office/powerpoint/2010/main" val="318600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/>
              <a:t>Well known graph algorithms: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Topological Sort</a:t>
            </a:r>
          </a:p>
          <a:p>
            <a:pPr lvl="1">
              <a:lnSpc>
                <a:spcPct val="80000"/>
              </a:lnSpc>
            </a:pPr>
            <a:r>
              <a:rPr lang="en-US" sz="1400" dirty="0"/>
              <a:t>Dijkstra’s Shortest Path Algorithm</a:t>
            </a:r>
          </a:p>
          <a:p>
            <a:pPr marL="344487" lvl="1" indent="0">
              <a:lnSpc>
                <a:spcPct val="8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037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Trees vs Graphs 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r>
              <a:rPr lang="en-US" dirty="0"/>
              <a:t>Trees are a Subset of Graphs</a:t>
            </a:r>
          </a:p>
          <a:p>
            <a:pPr lvl="1"/>
            <a:r>
              <a:rPr lang="en-US" dirty="0"/>
              <a:t>Acyclic Graphs</a:t>
            </a:r>
          </a:p>
          <a:p>
            <a:r>
              <a:rPr lang="en-US" dirty="0"/>
              <a:t>Tree Terminology:</a:t>
            </a:r>
          </a:p>
          <a:p>
            <a:pPr lvl="1"/>
            <a:r>
              <a:rPr lang="en-US" dirty="0"/>
              <a:t>Root node</a:t>
            </a:r>
          </a:p>
          <a:p>
            <a:pPr lvl="1"/>
            <a:r>
              <a:rPr lang="en-US" dirty="0"/>
              <a:t>Leaf Node</a:t>
            </a:r>
          </a:p>
          <a:p>
            <a:pPr lvl="1"/>
            <a:r>
              <a:rPr lang="en-US" dirty="0"/>
              <a:t>Inner Node</a:t>
            </a:r>
          </a:p>
          <a:p>
            <a:pPr lvl="1"/>
            <a:r>
              <a:rPr lang="en-US" dirty="0"/>
              <a:t>Tree height</a:t>
            </a:r>
          </a:p>
          <a:p>
            <a:pPr lvl="1"/>
            <a:r>
              <a:rPr lang="en-US" dirty="0"/>
              <a:t>Node depth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Trees vs Graphs 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r>
              <a:rPr lang="en-US" dirty="0"/>
              <a:t>Tree Terminology:</a:t>
            </a:r>
          </a:p>
          <a:p>
            <a:pPr lvl="1"/>
            <a:r>
              <a:rPr lang="en-US" dirty="0"/>
              <a:t>Parent node</a:t>
            </a:r>
          </a:p>
          <a:p>
            <a:pPr lvl="1"/>
            <a:r>
              <a:rPr lang="en-US" dirty="0"/>
              <a:t>Child Node</a:t>
            </a:r>
          </a:p>
          <a:p>
            <a:pPr lvl="1"/>
            <a:r>
              <a:rPr lang="en-US" dirty="0"/>
              <a:t>Leaf Node</a:t>
            </a:r>
          </a:p>
          <a:p>
            <a:pPr lvl="1"/>
            <a:r>
              <a:rPr lang="en-US" dirty="0"/>
              <a:t>Path</a:t>
            </a:r>
          </a:p>
          <a:p>
            <a:pPr lvl="1"/>
            <a:r>
              <a:rPr lang="en-US" dirty="0"/>
              <a:t>Ancestor</a:t>
            </a:r>
          </a:p>
          <a:p>
            <a:pPr lvl="1"/>
            <a:r>
              <a:rPr lang="en-US" dirty="0"/>
              <a:t>Descendant</a:t>
            </a:r>
          </a:p>
        </p:txBody>
      </p:sp>
    </p:spTree>
    <p:extLst>
      <p:ext uri="{BB962C8B-B14F-4D97-AF65-F5344CB8AC3E}">
        <p14:creationId xmlns:p14="http://schemas.microsoft.com/office/powerpoint/2010/main" val="3944464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Implementation 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r>
              <a:rPr lang="en-US" dirty="0"/>
              <a:t>Generic Implementation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9EEDA5-7B7D-462A-887B-467A54B7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01" y="2743200"/>
            <a:ext cx="3219899" cy="10288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7252DA-1CEB-48DE-94CA-95D968111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4338722"/>
            <a:ext cx="308653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26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Generic vs Binary Trees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525A383-E115-49F1-8339-FEE53CA5C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1200"/>
            <a:ext cx="8229600" cy="29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4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Binary vs Binary Search Trees 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7A85EBDD-5498-4DA0-91F2-6A702EFE4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576" y="2057400"/>
            <a:ext cx="8229600" cy="838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BF3F51-630B-4CDC-92FA-A5B4CCC1F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7772400" cy="220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4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Balanced vs Unbalanced Trees 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r>
              <a:rPr lang="en-US" dirty="0"/>
              <a:t>Balanced Trees: </a:t>
            </a:r>
          </a:p>
          <a:p>
            <a:pPr lvl="1"/>
            <a:r>
              <a:rPr lang="en-US" dirty="0"/>
              <a:t>Not perfectly balanced, but balanced enough to ensure O(log(N))</a:t>
            </a:r>
          </a:p>
          <a:p>
            <a:pPr lvl="1"/>
            <a:r>
              <a:rPr lang="en-US" dirty="0"/>
              <a:t>Usually differences are in the last level</a:t>
            </a:r>
          </a:p>
          <a:p>
            <a:pPr lvl="1"/>
            <a:r>
              <a:rPr lang="en-US" dirty="0"/>
              <a:t>Well known balanced trees:</a:t>
            </a:r>
          </a:p>
          <a:p>
            <a:pPr lvl="2"/>
            <a:r>
              <a:rPr lang="en-US" dirty="0"/>
              <a:t>AVL</a:t>
            </a:r>
          </a:p>
          <a:p>
            <a:pPr lvl="2"/>
            <a:r>
              <a:rPr lang="en-US" dirty="0"/>
              <a:t>Red-Black</a:t>
            </a:r>
          </a:p>
        </p:txBody>
      </p:sp>
    </p:spTree>
    <p:extLst>
      <p:ext uri="{BB962C8B-B14F-4D97-AF65-F5344CB8AC3E}">
        <p14:creationId xmlns:p14="http://schemas.microsoft.com/office/powerpoint/2010/main" val="205370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Complete Binary Tree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61D15-039D-4D32-B8DB-E3CA8F6D2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Full Binary Tree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A32F8854-CC63-40D0-87B5-8E34FA222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30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Perfect Binary Tree 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AF6B42E-994C-4C7C-8CBA-5F1E73498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8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Tree Traversals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5B4F2-522D-40BD-8991-2B5546E9A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Depth-first Search:</a:t>
            </a:r>
          </a:p>
          <a:p>
            <a:pPr lvl="1"/>
            <a:r>
              <a:rPr lang="en-US" dirty="0"/>
              <a:t>In-order</a:t>
            </a:r>
          </a:p>
          <a:p>
            <a:pPr lvl="1"/>
            <a:r>
              <a:rPr lang="en-US" dirty="0"/>
              <a:t>Pre-order</a:t>
            </a:r>
          </a:p>
          <a:p>
            <a:pPr lvl="1"/>
            <a:r>
              <a:rPr lang="en-US" dirty="0"/>
              <a:t>Post-Order</a:t>
            </a:r>
          </a:p>
          <a:p>
            <a:r>
              <a:rPr lang="en-US" dirty="0"/>
              <a:t>Breadth-first Search:</a:t>
            </a:r>
          </a:p>
          <a:p>
            <a:pPr lvl="1"/>
            <a:r>
              <a:rPr lang="en-US" dirty="0"/>
              <a:t>Level-Order</a:t>
            </a:r>
          </a:p>
        </p:txBody>
      </p:sp>
    </p:spTree>
    <p:extLst>
      <p:ext uri="{BB962C8B-B14F-4D97-AF65-F5344CB8AC3E}">
        <p14:creationId xmlns:p14="http://schemas.microsoft.com/office/powerpoint/2010/main" val="1620296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In-Order Traversal 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C4EB664B-9100-49EF-84E0-28C16A6BA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3733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33332A-3323-4B09-97CF-D081B29CA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07" y="5486400"/>
            <a:ext cx="6553200" cy="64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80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In-Order Traversal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63689E-7366-4211-8DF1-B61DE031D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2057400"/>
            <a:ext cx="5257799" cy="3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69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In-Order Traversal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F3EBEA-93C0-484D-B28D-6B9F5909A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521" y="1981200"/>
            <a:ext cx="7220958" cy="32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91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In-Order Traversal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A80012-48D2-4F54-A3F4-37303990F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750" y="1600200"/>
            <a:ext cx="4688250" cy="44116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170043-2A53-46D3-95BA-379EC817E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572000"/>
            <a:ext cx="3858163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10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Pre-order Traversal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C36E2EC-E439-4C9A-8949-9AEDE3D00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047" y="1600200"/>
            <a:ext cx="792590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7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Pre-order Traversal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29E9E-23E4-42C6-BB52-AC71CDB3F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752600"/>
            <a:ext cx="5715000" cy="380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52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Pre-order Traversal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B8F5BA-4D73-4DFC-937D-120C432F7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878" y="1676400"/>
            <a:ext cx="7872244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34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Pre-order Traversal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08377C-3811-41BB-B6B2-8F5B2FD55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600200"/>
            <a:ext cx="6629400" cy="439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38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Post-order Traversal 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0F067112-8FA4-4C7B-8475-0A222716E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626" y="1600200"/>
            <a:ext cx="786874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62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Post-order Traversal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DC18B0-E2E9-4E41-A22B-C3BE9B6A5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524001"/>
            <a:ext cx="5257800" cy="403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15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Post-order Traversal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E41AF4-3AC8-4ECF-A4C0-D04FCE9DF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179" y="1600200"/>
            <a:ext cx="6743841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38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Level-Order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r>
              <a:rPr lang="en-US" dirty="0"/>
              <a:t>Breadth-First Search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5C7172-E3D8-4BBB-9306-4B2F44D03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19902"/>
            <a:ext cx="5029200" cy="354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70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Level-Order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785B55F-AB55-40EC-859F-5E40D342E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828800"/>
            <a:ext cx="4915128" cy="351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34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Tries (Prefix trees)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F9EA95-1D07-4D5A-A2BD-5BFC3FAC8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1"/>
            <a:ext cx="8077200" cy="370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54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Tries (Prefix trees)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2EFD4A-33B5-4138-9838-67E08FE5A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752600"/>
            <a:ext cx="5867400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70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Tries (Prefix trees)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2145-7494-4118-B15A-36FFED0C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Applications:</a:t>
            </a:r>
          </a:p>
          <a:p>
            <a:pPr lvl="1"/>
            <a:r>
              <a:rPr lang="en-US" dirty="0"/>
              <a:t>Networking prefix routing</a:t>
            </a:r>
          </a:p>
          <a:p>
            <a:pPr lvl="1"/>
            <a:r>
              <a:rPr lang="en-US" dirty="0"/>
              <a:t>Word auto-completion</a:t>
            </a:r>
          </a:p>
          <a:p>
            <a:pPr lvl="1"/>
            <a:r>
              <a:rPr lang="en-US" dirty="0"/>
              <a:t>Checking valid word:</a:t>
            </a:r>
          </a:p>
          <a:p>
            <a:pPr lvl="2"/>
            <a:r>
              <a:rPr lang="en-US" dirty="0"/>
              <a:t> O(k), where K is the number of characters in the string.</a:t>
            </a:r>
          </a:p>
        </p:txBody>
      </p:sp>
    </p:spTree>
    <p:extLst>
      <p:ext uri="{BB962C8B-B14F-4D97-AF65-F5344CB8AC3E}">
        <p14:creationId xmlns:p14="http://schemas.microsoft.com/office/powerpoint/2010/main" val="997159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Tries (Prefix trees)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2145-7494-4118-B15A-36FFED0C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Implementation:</a:t>
            </a:r>
          </a:p>
          <a:p>
            <a:pPr lvl="1"/>
            <a:r>
              <a:rPr lang="en-US" dirty="0"/>
              <a:t>Node:</a:t>
            </a:r>
          </a:p>
          <a:p>
            <a:pPr lvl="2"/>
            <a:r>
              <a:rPr lang="en-US" dirty="0"/>
              <a:t>Value: char</a:t>
            </a:r>
          </a:p>
          <a:p>
            <a:pPr lvl="2"/>
            <a:r>
              <a:rPr lang="en-US" dirty="0"/>
              <a:t>Pointer to children nodes indexed by char</a:t>
            </a:r>
          </a:p>
          <a:p>
            <a:pPr lvl="3"/>
            <a:r>
              <a:rPr lang="en-US" dirty="0"/>
              <a:t>Hash char -&gt; Node</a:t>
            </a:r>
          </a:p>
          <a:p>
            <a:pPr lvl="3"/>
            <a:r>
              <a:rPr lang="en-US" dirty="0"/>
              <a:t>Array of all chars -&gt; Node</a:t>
            </a:r>
          </a:p>
        </p:txBody>
      </p:sp>
    </p:spTree>
    <p:extLst>
      <p:ext uri="{BB962C8B-B14F-4D97-AF65-F5344CB8AC3E}">
        <p14:creationId xmlns:p14="http://schemas.microsoft.com/office/powerpoint/2010/main" val="50533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Tries (Prefix trees)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FF4CC527-054B-447F-BC2F-73AEB4960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5791200" cy="404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33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Tries (Prefix trees)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DD1C9-8CC1-44D5-A1D3-E7E95F8A8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51" y="1905000"/>
            <a:ext cx="7239000" cy="1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FF8BF9-9A73-4993-B1A4-4556F8949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962400"/>
            <a:ext cx="3219899" cy="1305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5C9EB-4C59-45A7-B737-9CF1FBA16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022" y="3024056"/>
            <a:ext cx="457263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28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Java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7BBC-62B3-463A-AB30-350A181F2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TreeSet</a:t>
            </a:r>
            <a:r>
              <a:rPr lang="en-US" dirty="0"/>
              <a:t>, </a:t>
            </a:r>
            <a:r>
              <a:rPr lang="en-US" dirty="0" err="1"/>
              <a:t>TreeMap</a:t>
            </a:r>
            <a:r>
              <a:rPr lang="en-US" dirty="0"/>
              <a:t>: O(log(n)) basic operations</a:t>
            </a:r>
          </a:p>
          <a:p>
            <a:pPr lvl="1"/>
            <a:r>
              <a:rPr lang="en-US" dirty="0"/>
              <a:t>Add()</a:t>
            </a:r>
          </a:p>
          <a:p>
            <a:pPr lvl="1"/>
            <a:r>
              <a:rPr lang="en-US" dirty="0"/>
              <a:t>Remove()</a:t>
            </a:r>
          </a:p>
          <a:p>
            <a:pPr lvl="1"/>
            <a:r>
              <a:rPr lang="en-US" dirty="0"/>
              <a:t>Contains()</a:t>
            </a:r>
          </a:p>
        </p:txBody>
      </p:sp>
    </p:spTree>
    <p:extLst>
      <p:ext uri="{BB962C8B-B14F-4D97-AF65-F5344CB8AC3E}">
        <p14:creationId xmlns:p14="http://schemas.microsoft.com/office/powerpoint/2010/main" val="3404980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Java Interface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9FC10257-7606-404F-9DE6-DA3B50817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600200"/>
            <a:ext cx="6664031" cy="44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97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Trees: C++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7BBC-62B3-463A-AB30-350A181F2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Set, map: O(log(n)) basic operations</a:t>
            </a:r>
          </a:p>
          <a:p>
            <a:pPr lvl="1"/>
            <a:r>
              <a:rPr lang="en-US" dirty="0"/>
              <a:t>insert()</a:t>
            </a:r>
          </a:p>
          <a:p>
            <a:pPr lvl="1"/>
            <a:r>
              <a:rPr lang="en-US" dirty="0"/>
              <a:t>find()</a:t>
            </a:r>
          </a:p>
          <a:p>
            <a:pPr lvl="1"/>
            <a:r>
              <a:rPr lang="en-US" dirty="0"/>
              <a:t>Contains()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D0682C-E7C8-4570-B32A-0B001ECF0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91000"/>
            <a:ext cx="3572374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94322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UCSC-X419-Chapt1</Template>
  <TotalTime>619</TotalTime>
  <Words>453</Words>
  <Application>Microsoft Office PowerPoint</Application>
  <PresentationFormat>On-screen Show (4:3)</PresentationFormat>
  <Paragraphs>121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Tw Cen MT</vt:lpstr>
      <vt:lpstr>Wingdings</vt:lpstr>
      <vt:lpstr>Network</vt:lpstr>
      <vt:lpstr>Mastering Data Structures and Algorithms: A Practical Approach </vt:lpstr>
      <vt:lpstr>Overview</vt:lpstr>
      <vt:lpstr>Overview</vt:lpstr>
      <vt:lpstr>Overview</vt:lpstr>
      <vt:lpstr>Overview</vt:lpstr>
      <vt:lpstr>Trees: Trees vs Graphs </vt:lpstr>
      <vt:lpstr>Trees: Trees vs Graphs </vt:lpstr>
      <vt:lpstr>Trees: Implementation </vt:lpstr>
      <vt:lpstr>Trees: Generic vs Binary Trees</vt:lpstr>
      <vt:lpstr>Trees: Binary vs Binary Search Trees </vt:lpstr>
      <vt:lpstr>Trees: Balanced vs Unbalanced Trees </vt:lpstr>
      <vt:lpstr>Trees: Complete Binary Tree </vt:lpstr>
      <vt:lpstr>Trees: Full Binary Tree</vt:lpstr>
      <vt:lpstr>Trees: Perfect Binary Tree </vt:lpstr>
      <vt:lpstr>Trees: Tree Traversals </vt:lpstr>
      <vt:lpstr>Trees: In-Order Traversal </vt:lpstr>
      <vt:lpstr>Trees: In-Order Traversal </vt:lpstr>
      <vt:lpstr>Trees: In-Order Traversal </vt:lpstr>
      <vt:lpstr>Trees: In-Order Traversal </vt:lpstr>
      <vt:lpstr>Trees: Pre-order Traversal</vt:lpstr>
      <vt:lpstr>Trees: Pre-order Traversal</vt:lpstr>
      <vt:lpstr>Trees: Pre-order Traversal</vt:lpstr>
      <vt:lpstr>Trees: Pre-order Traversal</vt:lpstr>
      <vt:lpstr>Trees: Post-order Traversal </vt:lpstr>
      <vt:lpstr>Trees: Post-order Traversal </vt:lpstr>
      <vt:lpstr>Trees: Post-order Traversal </vt:lpstr>
      <vt:lpstr>Trees: Level-Order</vt:lpstr>
      <vt:lpstr>Trees: Level-Order</vt:lpstr>
      <vt:lpstr>Trees: Tries (Prefix trees)</vt:lpstr>
      <vt:lpstr>Trees: Tries (Prefix trees)</vt:lpstr>
      <vt:lpstr>Trees: Tries (Prefix trees)</vt:lpstr>
      <vt:lpstr>Trees: Tries (Prefix trees)</vt:lpstr>
      <vt:lpstr>Trees: Tries (Prefix trees)</vt:lpstr>
      <vt:lpstr>Trees: Tries (Prefix trees)</vt:lpstr>
      <vt:lpstr>Trees: Java Interface</vt:lpstr>
      <vt:lpstr>Trees: Java Interface</vt:lpstr>
      <vt:lpstr>Trees: C++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Data Structures and Algorithms: A Practical Approach </dc:title>
  <dc:creator>j_carlos_gomez@yahoo.com</dc:creator>
  <cp:lastModifiedBy>Juan Gomez</cp:lastModifiedBy>
  <cp:revision>81</cp:revision>
  <dcterms:created xsi:type="dcterms:W3CDTF">2018-06-15T04:50:19Z</dcterms:created>
  <dcterms:modified xsi:type="dcterms:W3CDTF">2018-11-13T16:47:17Z</dcterms:modified>
</cp:coreProperties>
</file>